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Exo 2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4" roundtripDataSignature="AMtx7mhzJZbyr0IKKlCoCUR1hZ63mDrm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831431-DD21-410D-AD38-964F89AEFCAC}">
  <a:tblStyle styleId="{6D831431-DD21-410D-AD38-964F89AEFCA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xo2-regular.fntdata"/><Relationship Id="rId11" Type="http://schemas.openxmlformats.org/officeDocument/2006/relationships/slide" Target="slides/slide5.xml"/><Relationship Id="rId22" Type="http://schemas.openxmlformats.org/officeDocument/2006/relationships/font" Target="fonts/Exo2-italic.fntdata"/><Relationship Id="rId10" Type="http://schemas.openxmlformats.org/officeDocument/2006/relationships/slide" Target="slides/slide4.xml"/><Relationship Id="rId21" Type="http://schemas.openxmlformats.org/officeDocument/2006/relationships/font" Target="fonts/Exo2-bold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Exo2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-U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d2338a52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ed2338a528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d2338a52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d2338a528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d2338a52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ed2338a528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d2338a52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ed2338a528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ий слайд">
  <p:cSld name="1_Титульний слайд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/>
          <p:nvPr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1B3A6E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descr="D:\КПИ\works\_ДНВР\Брендбук КПИ\Ресурс 39.png" id="17" name="Google Shape;17;p12"/>
          <p:cNvPicPr preferRelativeResize="0"/>
          <p:nvPr/>
        </p:nvPicPr>
        <p:blipFill rotWithShape="1">
          <a:blip r:embed="rId2">
            <a:alphaModFix/>
          </a:blip>
          <a:srcRect b="45813" l="37949" r="37950" t="0"/>
          <a:stretch/>
        </p:blipFill>
        <p:spPr>
          <a:xfrm>
            <a:off x="88900" y="88927"/>
            <a:ext cx="720000" cy="9209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18;p12"/>
          <p:cNvGrpSpPr/>
          <p:nvPr/>
        </p:nvGrpSpPr>
        <p:grpSpPr>
          <a:xfrm>
            <a:off x="897800" y="278525"/>
            <a:ext cx="4555199" cy="522950"/>
            <a:chOff x="360000" y="2952000"/>
            <a:chExt cx="4555199" cy="522950"/>
          </a:xfrm>
        </p:grpSpPr>
        <p:pic>
          <p:nvPicPr>
            <p:cNvPr descr="D:\КПИ\works\_ДНВР\Брендбук КПИ\Ресурс 39.png" id="19" name="Google Shape;19;p12"/>
            <p:cNvPicPr preferRelativeResize="0"/>
            <p:nvPr/>
          </p:nvPicPr>
          <p:blipFill rotWithShape="1">
            <a:blip r:embed="rId2">
              <a:alphaModFix/>
            </a:blip>
            <a:srcRect b="36206" l="10860" r="0" t="54680"/>
            <a:stretch/>
          </p:blipFill>
          <p:spPr>
            <a:xfrm>
              <a:off x="360000" y="2952000"/>
              <a:ext cx="4039625" cy="2349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Google Shape;20;p12"/>
            <p:cNvGrpSpPr/>
            <p:nvPr/>
          </p:nvGrpSpPr>
          <p:grpSpPr>
            <a:xfrm>
              <a:off x="360000" y="3240000"/>
              <a:ext cx="4555199" cy="234950"/>
              <a:chOff x="432000" y="3240000"/>
              <a:chExt cx="4555199" cy="234950"/>
            </a:xfrm>
          </p:grpSpPr>
          <p:pic>
            <p:nvPicPr>
              <p:cNvPr descr="D:\КПИ\works\_ДНВР\Брендбук КПИ\Ресурс 39.png" id="21" name="Google Shape;21;p12"/>
              <p:cNvPicPr preferRelativeResize="0"/>
              <p:nvPr/>
            </p:nvPicPr>
            <p:blipFill rotWithShape="1">
              <a:blip r:embed="rId2">
                <a:alphaModFix/>
              </a:blip>
              <a:srcRect b="26600" l="0" r="41176" t="64286"/>
              <a:stretch/>
            </p:blipFill>
            <p:spPr>
              <a:xfrm>
                <a:off x="432000" y="3240000"/>
                <a:ext cx="2665776" cy="2349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D:\КПИ\works\_ДНВР\Брендбук КПИ\Ресурс 39.png" id="22" name="Google Shape;22;p12"/>
              <p:cNvPicPr preferRelativeResize="0"/>
              <p:nvPr/>
            </p:nvPicPr>
            <p:blipFill rotWithShape="1">
              <a:blip r:embed="rId2">
                <a:alphaModFix/>
              </a:blip>
              <a:srcRect b="26600" l="58824" r="0" t="64286"/>
              <a:stretch/>
            </p:blipFill>
            <p:spPr>
              <a:xfrm>
                <a:off x="3121200" y="3240000"/>
                <a:ext cx="1865999" cy="2349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2002822" y="3571606"/>
            <a:ext cx="5138356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2" type="body"/>
          </p:nvPr>
        </p:nvSpPr>
        <p:spPr>
          <a:xfrm>
            <a:off x="2002822" y="4062893"/>
            <a:ext cx="5138356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3" type="body"/>
          </p:nvPr>
        </p:nvSpPr>
        <p:spPr>
          <a:xfrm>
            <a:off x="1815180" y="2218628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  <a:defRPr b="1" sz="2400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4" type="body"/>
          </p:nvPr>
        </p:nvSpPr>
        <p:spPr>
          <a:xfrm>
            <a:off x="2002822" y="4680000"/>
            <a:ext cx="5138356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5" type="body"/>
          </p:nvPr>
        </p:nvSpPr>
        <p:spPr>
          <a:xfrm>
            <a:off x="863392" y="1260000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B3A6E"/>
              </a:buClr>
              <a:buSzPts val="1800"/>
              <a:buNone/>
              <a:defRPr b="1" sz="18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1)">
  <p:cSld name="Слайд (варіант 1)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/>
          <p:nvPr/>
        </p:nvSpPr>
        <p:spPr>
          <a:xfrm>
            <a:off x="0" y="0"/>
            <a:ext cx="9144000" cy="706245"/>
          </a:xfrm>
          <a:prstGeom prst="rect">
            <a:avLst/>
          </a:prstGeom>
          <a:solidFill>
            <a:srgbClr val="1B3A6E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0" name="Google Shape;30;p13"/>
          <p:cNvSpPr/>
          <p:nvPr/>
        </p:nvSpPr>
        <p:spPr>
          <a:xfrm>
            <a:off x="0" y="4611943"/>
            <a:ext cx="9144000" cy="531557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180000" y="900000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3" name="Google Shape;3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5778" y="4676873"/>
            <a:ext cx="297696" cy="39825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3"/>
          <p:cNvSpPr txBox="1"/>
          <p:nvPr/>
        </p:nvSpPr>
        <p:spPr>
          <a:xfrm>
            <a:off x="672641" y="4714417"/>
            <a:ext cx="321386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uk-UA" sz="800" u="none" cap="none" strike="noStrik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</a:t>
            </a:r>
            <a:br>
              <a:rPr b="1" i="0" lang="uk-UA" sz="800" u="none" cap="none" strike="noStrik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</a:br>
            <a:r>
              <a:rPr b="1" i="0" lang="uk-UA" sz="800" u="none" cap="none" strike="noStrik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«Київський політехнічний інститут імені Ігоря Сікорського»</a:t>
            </a:r>
            <a:endParaRPr sz="800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">
  <p:cSld name="Титульний слайд">
    <p:bg>
      <p:bgPr>
        <a:solidFill>
          <a:srgbClr val="1B3A6E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КПИ\works\_ДНВР\Брендбук КПИ\Ресурс 39.png" id="36" name="Google Shape;3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06113" y="1282727"/>
            <a:ext cx="4531775" cy="2578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(варіант 1)">
  <p:cSld name="1_Слайд (варіант 1)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/>
          <p:nvPr/>
        </p:nvSpPr>
        <p:spPr>
          <a:xfrm>
            <a:off x="0" y="4611943"/>
            <a:ext cx="9144000" cy="531557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328415" y="323254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  <a:defRPr b="1" sz="2400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334824" y="1040328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B3A6E"/>
              </a:buClr>
              <a:buSzPts val="1800"/>
              <a:buNone/>
              <a:defRPr b="1" sz="18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3" type="body"/>
          </p:nvPr>
        </p:nvSpPr>
        <p:spPr>
          <a:xfrm>
            <a:off x="340162" y="1494332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2" name="Google Shape;4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5778" y="4676873"/>
            <a:ext cx="297696" cy="39825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5"/>
          <p:cNvSpPr txBox="1"/>
          <p:nvPr/>
        </p:nvSpPr>
        <p:spPr>
          <a:xfrm>
            <a:off x="672641" y="4714417"/>
            <a:ext cx="321386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8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</a:t>
            </a:r>
            <a:br>
              <a:rPr b="1" lang="uk-UA" sz="8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</a:br>
            <a:r>
              <a:rPr b="1" lang="uk-UA" sz="8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«Київський політехнічний інститут імені Ігоря Сікорського»</a:t>
            </a:r>
            <a:endParaRPr sz="800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2)">
  <p:cSld name="Слайд (варіант 2)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/>
          <p:nvPr/>
        </p:nvSpPr>
        <p:spPr>
          <a:xfrm>
            <a:off x="0" y="4755054"/>
            <a:ext cx="9144000" cy="388446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328415" y="323253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  <a:defRPr b="1" sz="2400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334824" y="1040328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B3A6E"/>
              </a:buClr>
              <a:buSzPts val="1800"/>
              <a:buNone/>
              <a:defRPr b="1" sz="18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340162" y="1494332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6"/>
          <p:cNvSpPr txBox="1"/>
          <p:nvPr/>
        </p:nvSpPr>
        <p:spPr>
          <a:xfrm>
            <a:off x="921410" y="4818324"/>
            <a:ext cx="7288391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9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 «Київський політехнічний інститут імені Ігоря Сікорського»</a:t>
            </a:r>
            <a:endParaRPr sz="9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50" name="Google Shape;5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476" y="4431571"/>
            <a:ext cx="483610" cy="646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706" y="4479309"/>
            <a:ext cx="377149" cy="551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3)">
  <p:cSld name="Слайд (варіант 3)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/>
          <p:nvPr/>
        </p:nvSpPr>
        <p:spPr>
          <a:xfrm>
            <a:off x="0" y="4755054"/>
            <a:ext cx="9144000" cy="388446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54" name="Google Shape;54;p17"/>
          <p:cNvSpPr txBox="1"/>
          <p:nvPr>
            <p:ph idx="1" type="body"/>
          </p:nvPr>
        </p:nvSpPr>
        <p:spPr>
          <a:xfrm>
            <a:off x="328415" y="323253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  <a:defRPr b="1" sz="2400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2" type="body"/>
          </p:nvPr>
        </p:nvSpPr>
        <p:spPr>
          <a:xfrm>
            <a:off x="334824" y="1040328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B3A6E"/>
              </a:buClr>
              <a:buSzPts val="1800"/>
              <a:buNone/>
              <a:defRPr b="1" sz="18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3" type="body"/>
          </p:nvPr>
        </p:nvSpPr>
        <p:spPr>
          <a:xfrm>
            <a:off x="340162" y="1494332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7" name="Google Shape;57;p17"/>
          <p:cNvGrpSpPr/>
          <p:nvPr/>
        </p:nvGrpSpPr>
        <p:grpSpPr>
          <a:xfrm>
            <a:off x="8211852" y="4425177"/>
            <a:ext cx="483610" cy="646966"/>
            <a:chOff x="8296291" y="4126103"/>
            <a:chExt cx="662832" cy="886727"/>
          </a:xfrm>
        </p:grpSpPr>
        <p:pic>
          <p:nvPicPr>
            <p:cNvPr id="58" name="Google Shape;58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296291" y="4126103"/>
              <a:ext cx="662832" cy="8867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69248" y="4191533"/>
              <a:ext cx="516917" cy="7558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17"/>
          <p:cNvSpPr txBox="1"/>
          <p:nvPr/>
        </p:nvSpPr>
        <p:spPr>
          <a:xfrm>
            <a:off x="346529" y="4835698"/>
            <a:ext cx="728839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9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 «Київський політехнічний інститут імені Ігоря Сікорського»</a:t>
            </a:r>
            <a:endParaRPr sz="9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4)">
  <p:cSld name="Слайд (варіант 4)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48542" y="4189155"/>
            <a:ext cx="615078" cy="822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87" y="4534779"/>
            <a:ext cx="296688" cy="43383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8"/>
          <p:cNvSpPr txBox="1"/>
          <p:nvPr/>
        </p:nvSpPr>
        <p:spPr>
          <a:xfrm>
            <a:off x="571075" y="4578573"/>
            <a:ext cx="3489177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9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</a:t>
            </a:r>
            <a:br>
              <a:rPr b="1" lang="uk-UA" sz="9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</a:br>
            <a:r>
              <a:rPr b="1" lang="uk-UA" sz="9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«Київський політехнічний інститут імені Ігоря Сікорського»</a:t>
            </a:r>
            <a:endParaRPr b="1" sz="900">
              <a:solidFill>
                <a:srgbClr val="1B3A6E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5)">
  <p:cSld name="Слайд (варіант 5)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idx="1" type="body"/>
          </p:nvPr>
        </p:nvSpPr>
        <p:spPr>
          <a:xfrm>
            <a:off x="328415" y="323253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  <a:defRPr b="1" sz="2400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2" type="body"/>
          </p:nvPr>
        </p:nvSpPr>
        <p:spPr>
          <a:xfrm>
            <a:off x="334824" y="1040328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B3A6E"/>
              </a:buClr>
              <a:buSzPts val="1800"/>
              <a:buNone/>
              <a:defRPr b="1" sz="18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3" type="body"/>
          </p:nvPr>
        </p:nvSpPr>
        <p:spPr>
          <a:xfrm>
            <a:off x="340162" y="1494332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9" name="Google Shape;6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9230" y="4341801"/>
            <a:ext cx="393100" cy="574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6)">
  <p:cSld name="Слайд (варіант 6)">
    <p:bg>
      <p:bgPr>
        <a:solidFill>
          <a:srgbClr val="1B3A6E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/>
          <p:nvPr>
            <p:ph idx="1" type="body"/>
          </p:nvPr>
        </p:nvSpPr>
        <p:spPr>
          <a:xfrm>
            <a:off x="328415" y="323253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2" type="body"/>
          </p:nvPr>
        </p:nvSpPr>
        <p:spPr>
          <a:xfrm>
            <a:off x="334824" y="1040328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3" type="body"/>
          </p:nvPr>
        </p:nvSpPr>
        <p:spPr>
          <a:xfrm>
            <a:off x="340162" y="1494332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4" name="Google Shape;7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0048" y="4341801"/>
            <a:ext cx="429679" cy="574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Exo 2"/>
              <a:buNone/>
              <a:defRPr b="0" i="0" sz="33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"/>
          <p:cNvSpPr txBox="1"/>
          <p:nvPr>
            <p:ph idx="1" type="body"/>
          </p:nvPr>
        </p:nvSpPr>
        <p:spPr>
          <a:xfrm>
            <a:off x="972000" y="3654774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uk-UA" sz="1800">
                <a:latin typeface="Calibri"/>
                <a:ea typeface="Calibri"/>
                <a:cs typeface="Calibri"/>
                <a:sym typeface="Calibri"/>
              </a:rPr>
              <a:t>виконала: студентка групи ТВ-23 Бунда Ольга Миколаївна</a:t>
            </a:r>
            <a:endParaRPr/>
          </a:p>
        </p:txBody>
      </p:sp>
      <p:sp>
        <p:nvSpPr>
          <p:cNvPr id="80" name="Google Shape;80;p1"/>
          <p:cNvSpPr txBox="1"/>
          <p:nvPr>
            <p:ph idx="2" type="body"/>
          </p:nvPr>
        </p:nvSpPr>
        <p:spPr>
          <a:xfrm>
            <a:off x="330396" y="4132351"/>
            <a:ext cx="8483207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uk-UA" sz="1800">
                <a:latin typeface="Calibri"/>
                <a:ea typeface="Calibri"/>
                <a:cs typeface="Calibri"/>
                <a:sym typeface="Calibri"/>
              </a:rPr>
              <a:t>керівник: доцент, </a:t>
            </a:r>
            <a:r>
              <a:rPr lang="uk-UA" sz="1800">
                <a:latin typeface="Calibri"/>
                <a:ea typeface="Calibri"/>
                <a:cs typeface="Calibri"/>
                <a:sym typeface="Calibri"/>
              </a:rPr>
              <a:t>к.т.н</a:t>
            </a:r>
            <a:r>
              <a:rPr lang="uk-UA" sz="1800">
                <a:latin typeface="Calibri"/>
                <a:ea typeface="Calibri"/>
                <a:cs typeface="Calibri"/>
                <a:sym typeface="Calibri"/>
              </a:rPr>
              <a:t> Стативка Юрій Іванович </a:t>
            </a:r>
            <a:endParaRPr/>
          </a:p>
        </p:txBody>
      </p:sp>
      <p:sp>
        <p:nvSpPr>
          <p:cNvPr id="81" name="Google Shape;81;p1"/>
          <p:cNvSpPr txBox="1"/>
          <p:nvPr>
            <p:ph idx="3" type="body"/>
          </p:nvPr>
        </p:nvSpPr>
        <p:spPr>
          <a:xfrm>
            <a:off x="972000" y="2233950"/>
            <a:ext cx="7491600" cy="1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800"/>
              <a:buFont typeface="Arial"/>
              <a:buNone/>
            </a:pPr>
            <a:r>
              <a:rPr lang="uk-UA" sz="2800">
                <a:latin typeface="Calibri"/>
                <a:ea typeface="Calibri"/>
                <a:cs typeface="Calibri"/>
                <a:sym typeface="Calibri"/>
              </a:rPr>
              <a:t>ГЛИБОКЕ НАВЧАННЯ  З ПІДКРІПЛЕННЯМ ДЛЯ КЕРУВАННЯ ТОПОЛОГІЄЮ ЕНЕРГОМЕРЕЖ ПРИ РАПТОВИХ ВТРАТАХ ВУЗЛІВ ГЕНЕРАЦІЇ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"/>
          <p:cNvSpPr txBox="1"/>
          <p:nvPr>
            <p:ph idx="4" type="body"/>
          </p:nvPr>
        </p:nvSpPr>
        <p:spPr>
          <a:xfrm>
            <a:off x="3942000" y="4752000"/>
            <a:ext cx="126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uk-UA">
                <a:latin typeface="Calibri"/>
                <a:ea typeface="Calibri"/>
                <a:cs typeface="Calibri"/>
                <a:sym typeface="Calibri"/>
              </a:rPr>
              <a:t>2026</a:t>
            </a:r>
            <a:endParaRPr/>
          </a:p>
        </p:txBody>
      </p:sp>
      <p:sp>
        <p:nvSpPr>
          <p:cNvPr id="83" name="Google Shape;83;p1"/>
          <p:cNvSpPr txBox="1"/>
          <p:nvPr>
            <p:ph idx="5" type="body"/>
          </p:nvPr>
        </p:nvSpPr>
        <p:spPr>
          <a:xfrm>
            <a:off x="522000" y="1152000"/>
            <a:ext cx="81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</a:pPr>
            <a:r>
              <a:rPr b="0" lang="uk-UA" sz="2400">
                <a:latin typeface="Calibri"/>
                <a:ea typeface="Calibri"/>
                <a:cs typeface="Calibri"/>
                <a:sym typeface="Calibri"/>
              </a:rPr>
              <a:t>Навчально-науковий інститут атомної та теплової енергетики</a:t>
            </a:r>
            <a:endParaRPr/>
          </a:p>
        </p:txBody>
      </p:sp>
      <p:sp>
        <p:nvSpPr>
          <p:cNvPr id="84" name="Google Shape;84;p1"/>
          <p:cNvSpPr txBox="1"/>
          <p:nvPr/>
        </p:nvSpPr>
        <p:spPr>
          <a:xfrm>
            <a:off x="522000" y="1548000"/>
            <a:ext cx="81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200"/>
              <a:buFont typeface="Arial"/>
              <a:buNone/>
            </a:pPr>
            <a:r>
              <a:rPr b="0" i="0" lang="uk-UA" sz="2200" u="none" cap="none" strike="noStrike">
                <a:solidFill>
                  <a:srgbClr val="1B3A6E"/>
                </a:solidFill>
                <a:latin typeface="Calibri"/>
                <a:ea typeface="Calibri"/>
                <a:cs typeface="Calibri"/>
                <a:sym typeface="Calibri"/>
              </a:rPr>
              <a:t>Кафедра інженерії програмного забезпечення в енергетиці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0" lang="uk-UA" sz="2800" cap="none">
                <a:latin typeface="Calibri"/>
                <a:ea typeface="Calibri"/>
                <a:cs typeface="Calibri"/>
                <a:sym typeface="Calibri"/>
              </a:rPr>
              <a:t>Актуальність теми</a:t>
            </a:r>
            <a:endParaRPr/>
          </a:p>
        </p:txBody>
      </p:sp>
      <p:sp>
        <p:nvSpPr>
          <p:cNvPr id="90" name="Google Shape;90;p2"/>
          <p:cNvSpPr txBox="1"/>
          <p:nvPr>
            <p:ph idx="2" type="body"/>
          </p:nvPr>
        </p:nvSpPr>
        <p:spPr>
          <a:xfrm>
            <a:off x="180000" y="1282650"/>
            <a:ext cx="8784000" cy="25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Проблема:</a:t>
            </a:r>
            <a:r>
              <a:rPr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Каскадні аварії в енергомережах → блекаути → економічні збитки та загроза безпеці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Значення для ІПЗ:</a:t>
            </a:r>
            <a:r>
              <a:rPr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Розробка інтелектуальних систем керування складними динамічними середовищами на основі RL — актуальний напрям прикладного ML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Мета:</a:t>
            </a:r>
            <a:r>
              <a:rPr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Розробити програмну систему керування топологією мережі IEEE 14-bus на основі PPO, що запобігає блекаутам при аварійних відключеннях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8280000" y="4752000"/>
            <a:ext cx="72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2/13</a:t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0" lang="uk-UA" sz="2800" cap="none">
                <a:latin typeface="Calibri"/>
                <a:ea typeface="Calibri"/>
                <a:cs typeface="Calibri"/>
                <a:sym typeface="Calibri"/>
              </a:rPr>
              <a:t>Постановка задачі</a:t>
            </a:r>
            <a:endParaRPr/>
          </a:p>
        </p:txBody>
      </p:sp>
      <p:sp>
        <p:nvSpPr>
          <p:cNvPr id="97" name="Google Shape;97;p3"/>
          <p:cNvSpPr txBox="1"/>
          <p:nvPr>
            <p:ph idx="2" type="body"/>
          </p:nvPr>
        </p:nvSpPr>
        <p:spPr>
          <a:xfrm>
            <a:off x="179999" y="900000"/>
            <a:ext cx="8784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Char char="●"/>
            </a:pPr>
            <a:r>
              <a:rPr b="1"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Формулювання:</a:t>
            </a:r>
            <a:r>
              <a:rPr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Керування топологією IEEE 14-bus формалізовано як марківський процес прийняття рішень MDP = (S, A, P, R, γ)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Char char="●"/>
            </a:pPr>
            <a:r>
              <a:rPr b="1"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Простір станів:</a:t>
            </a:r>
            <a:r>
              <a:rPr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вектор 114 параметрів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Char char="●"/>
            </a:pPr>
            <a:r>
              <a:rPr b="1"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Простір дій: </a:t>
            </a:r>
            <a:r>
              <a:rPr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101 дискретна дія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Char char="●"/>
            </a:pPr>
            <a:r>
              <a:rPr b="1"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Завдання</a:t>
            </a:r>
            <a:r>
              <a:rPr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AutoNum type="arabicPeriod"/>
            </a:pPr>
            <a:r>
              <a:rPr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Дослідити існуючі підходи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AutoNum type="arabicPeriod"/>
            </a:pPr>
            <a:r>
              <a:rPr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Розробити математичну модель (MDP)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AutoNum type="arabicPeriod"/>
            </a:pPr>
            <a:r>
              <a:rPr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Реалізувати власну функцію винагороди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AutoNum type="arabicPeriod"/>
            </a:pPr>
            <a:r>
              <a:rPr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Навчити PPO агента на Grid2Op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AutoNum type="arabicPeriod"/>
            </a:pPr>
            <a:r>
              <a:rPr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Провести порівняльне тестування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AutoNum type="arabicPeriod"/>
            </a:pPr>
            <a:r>
              <a:rPr lang="uk-UA"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Розробити веб-застосунок Streamlit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8280000" y="4752000"/>
            <a:ext cx="72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3/13</a:t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0" lang="uk-UA" sz="2800" cap="none">
                <a:latin typeface="Calibri"/>
                <a:ea typeface="Calibri"/>
                <a:cs typeface="Calibri"/>
                <a:sym typeface="Calibri"/>
              </a:rPr>
              <a:t>Аналіз предметної області</a:t>
            </a:r>
            <a:endParaRPr/>
          </a:p>
        </p:txBody>
      </p:sp>
      <p:sp>
        <p:nvSpPr>
          <p:cNvPr id="104" name="Google Shape;104;p4"/>
          <p:cNvSpPr txBox="1"/>
          <p:nvPr/>
        </p:nvSpPr>
        <p:spPr>
          <a:xfrm>
            <a:off x="8280000" y="4752000"/>
            <a:ext cx="72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4</a:t>
            </a: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/13</a:t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graphicFrame>
        <p:nvGraphicFramePr>
          <p:cNvPr id="105" name="Google Shape;105;p4"/>
          <p:cNvGraphicFramePr/>
          <p:nvPr/>
        </p:nvGraphicFramePr>
        <p:xfrm>
          <a:off x="606625" y="96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{6D831431-DD21-410D-AD38-964F89AEFCAC}</a:tableStyleId>
              </a:tblPr>
              <a:tblGrid>
                <a:gridCol w="2022825"/>
                <a:gridCol w="1283300"/>
                <a:gridCol w="1642175"/>
                <a:gridCol w="1653050"/>
                <a:gridCol w="1642175"/>
              </a:tblGrid>
              <a:tr h="805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Метод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Швидкість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Якість рішення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Адаптивність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Складність реалізації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55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Жадібний алгоритм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Висока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Низька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Низька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Низька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MILP оптимізація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Низька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Висока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Низька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Висока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Random agent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Висока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Дуже низька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Відсутня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Дуже низька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55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PPO (навчання з підкріпленням)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Висока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Висока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Висока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600"/>
                        <a:t>Середня</a:t>
                      </a:r>
                      <a:endParaRPr sz="16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0" lang="uk-UA" sz="2800" cap="none">
                <a:latin typeface="Calibri"/>
                <a:ea typeface="Calibri"/>
                <a:cs typeface="Calibri"/>
                <a:sym typeface="Calibri"/>
              </a:rPr>
              <a:t>Проєктування системи</a:t>
            </a:r>
            <a:endParaRPr/>
          </a:p>
        </p:txBody>
      </p:sp>
      <p:sp>
        <p:nvSpPr>
          <p:cNvPr id="111" name="Google Shape;111;p5"/>
          <p:cNvSpPr txBox="1"/>
          <p:nvPr/>
        </p:nvSpPr>
        <p:spPr>
          <a:xfrm>
            <a:off x="8280000" y="4788000"/>
            <a:ext cx="72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5</a:t>
            </a: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/13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5165300" y="1044175"/>
            <a:ext cx="3635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None/>
            </a:pP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Функціональні вимоги:</a:t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Симуляція аварійних сценаріїв (одиночних і каскадних N-1-1)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Навчання PPO агента з власною reward function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Візуалізація топології та карта ризиків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Порівняння з класичними алгоритмами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Режим ручного керування </a:t>
            </a:r>
            <a:endParaRPr sz="1800"/>
          </a:p>
        </p:txBody>
      </p:sp>
      <p:pic>
        <p:nvPicPr>
          <p:cNvPr id="113" name="Google Shape;11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25" y="1281575"/>
            <a:ext cx="4999250" cy="227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d2338a528_0_7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0" lang="uk-UA" sz="2800" cap="none">
                <a:latin typeface="Calibri"/>
                <a:ea typeface="Calibri"/>
                <a:cs typeface="Calibri"/>
                <a:sym typeface="Calibri"/>
              </a:rPr>
              <a:t>Проєктування системи</a:t>
            </a:r>
            <a:endParaRPr/>
          </a:p>
        </p:txBody>
      </p:sp>
      <p:sp>
        <p:nvSpPr>
          <p:cNvPr id="119" name="Google Shape;119;g3ed2338a528_0_7"/>
          <p:cNvSpPr txBox="1"/>
          <p:nvPr/>
        </p:nvSpPr>
        <p:spPr>
          <a:xfrm>
            <a:off x="8280000" y="4788000"/>
            <a:ext cx="72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6</a:t>
            </a: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/13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20" name="Google Shape;120;g3ed2338a528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600" y="779373"/>
            <a:ext cx="5075275" cy="36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d2338a528_0_31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0" lang="uk-UA" sz="2800" cap="none">
                <a:latin typeface="Calibri"/>
                <a:ea typeface="Calibri"/>
                <a:cs typeface="Calibri"/>
                <a:sym typeface="Calibri"/>
              </a:rPr>
              <a:t>Реалізація системи</a:t>
            </a:r>
            <a:endParaRPr/>
          </a:p>
        </p:txBody>
      </p:sp>
      <p:sp>
        <p:nvSpPr>
          <p:cNvPr id="126" name="Google Shape;126;g3ed2338a528_0_31"/>
          <p:cNvSpPr txBox="1"/>
          <p:nvPr/>
        </p:nvSpPr>
        <p:spPr>
          <a:xfrm>
            <a:off x="8280000" y="4788000"/>
            <a:ext cx="72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7</a:t>
            </a: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/13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27" name="Google Shape;127;g3ed2338a528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7825" y="2538713"/>
            <a:ext cx="786075" cy="7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ed2338a528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4963" y="2631465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ed2338a528_0_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2771" y="1408355"/>
            <a:ext cx="1343826" cy="78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ed2338a528_0_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5851" y="3731650"/>
            <a:ext cx="2878242" cy="690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1" name="Google Shape;131;g3ed2338a528_0_31"/>
          <p:cNvGraphicFramePr/>
          <p:nvPr/>
        </p:nvGraphicFramePr>
        <p:xfrm>
          <a:off x="5455125" y="1219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{6D831431-DD21-410D-AD38-964F89AEFCAC}</a:tableStyleId>
              </a:tblPr>
              <a:tblGrid>
                <a:gridCol w="1265400"/>
                <a:gridCol w="2179975"/>
              </a:tblGrid>
              <a:tr h="345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-UA" sz="1100"/>
                        <a:t>Компонент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-UA" sz="1100"/>
                        <a:t>Технологія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6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/>
                        <a:t>Симулятор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/>
                        <a:t>Grid2Op + LightSim2Grid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/>
                        <a:t>RL алгоритм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/>
                        <a:t>PPO (Stable-Baselines3)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6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/>
                        <a:t>Веб-інтерфейс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/>
                        <a:t>Streamlit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/>
                        <a:t>Візуалізація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/>
                        <a:t>Matplotlib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/>
                        <a:t>Мова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/>
                        <a:t>Python 3.13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2" name="Google Shape;132;g3ed2338a528_0_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9999" y="1154026"/>
            <a:ext cx="1495275" cy="231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2338a528_0_40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0" lang="uk-UA" sz="2800" cap="none">
                <a:latin typeface="Calibri"/>
                <a:ea typeface="Calibri"/>
                <a:cs typeface="Calibri"/>
                <a:sym typeface="Calibri"/>
              </a:rPr>
              <a:t>Реалізація</a:t>
            </a:r>
            <a:r>
              <a:rPr b="0" lang="uk-UA" sz="2800">
                <a:latin typeface="Calibri"/>
                <a:ea typeface="Calibri"/>
                <a:cs typeface="Calibri"/>
                <a:sym typeface="Calibri"/>
              </a:rPr>
              <a:t>: функція винагороди</a:t>
            </a:r>
            <a:endParaRPr/>
          </a:p>
        </p:txBody>
      </p:sp>
      <p:sp>
        <p:nvSpPr>
          <p:cNvPr id="138" name="Google Shape;138;g3ed2338a528_0_40"/>
          <p:cNvSpPr txBox="1"/>
          <p:nvPr/>
        </p:nvSpPr>
        <p:spPr>
          <a:xfrm>
            <a:off x="8280000" y="4788000"/>
            <a:ext cx="72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8</a:t>
            </a: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/13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39" name="Google Shape;139;g3ed2338a528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2200" y="916800"/>
            <a:ext cx="5259600" cy="96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ed2338a528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000" y="2024225"/>
            <a:ext cx="8839202" cy="1718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0" lang="uk-UA" sz="2800" cap="none">
                <a:latin typeface="Calibri"/>
                <a:ea typeface="Calibri"/>
                <a:cs typeface="Calibri"/>
                <a:sym typeface="Calibri"/>
              </a:rPr>
              <a:t>Реалізація системи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8280000" y="4788000"/>
            <a:ext cx="72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9</a:t>
            </a: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/13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graphicFrame>
        <p:nvGraphicFramePr>
          <p:cNvPr id="147" name="Google Shape;147;p6"/>
          <p:cNvGraphicFramePr/>
          <p:nvPr/>
        </p:nvGraphicFramePr>
        <p:xfrm>
          <a:off x="253700" y="333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{6D831431-DD21-410D-AD38-964F89AEFCAC}</a:tableStyleId>
              </a:tblPr>
              <a:tblGrid>
                <a:gridCol w="1147225"/>
                <a:gridCol w="1232725"/>
                <a:gridCol w="883825"/>
                <a:gridCol w="1017900"/>
                <a:gridCol w="743950"/>
              </a:tblGrid>
              <a:tr h="2548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800"/>
                        <a:t>v1</a:t>
                      </a:r>
                      <a:endParaRPr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800"/>
                        <a:t>L2RPNReward</a:t>
                      </a:r>
                      <a:endParaRPr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800"/>
                        <a:t>100 000</a:t>
                      </a:r>
                      <a:endParaRPr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800"/>
                        <a:t>192</a:t>
                      </a:r>
                      <a:endParaRPr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800"/>
                        <a:t>~13x</a:t>
                      </a:r>
                      <a:endParaRPr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8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800"/>
                        <a:t>v2</a:t>
                      </a:r>
                      <a:endParaRPr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800"/>
                        <a:t>L2RPNReward</a:t>
                      </a:r>
                      <a:endParaRPr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800"/>
                        <a:t>200 000</a:t>
                      </a:r>
                      <a:endParaRPr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800"/>
                        <a:t>1162</a:t>
                      </a:r>
                      <a:endParaRPr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800"/>
                        <a:t>~518x</a:t>
                      </a:r>
                      <a:endParaRPr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8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800"/>
                        <a:t>v3</a:t>
                      </a:r>
                      <a:endParaRPr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800"/>
                        <a:t>CustomReward</a:t>
                      </a:r>
                      <a:endParaRPr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800"/>
                        <a:t>300 000</a:t>
                      </a:r>
                      <a:endParaRPr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800"/>
                        <a:t>2052</a:t>
                      </a:r>
                      <a:endParaRPr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800"/>
                        <a:t>~1661x</a:t>
                      </a:r>
                      <a:endParaRPr sz="800"/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8" name="Google Shape;14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3787" y="851075"/>
            <a:ext cx="6016425" cy="2388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d2338a528_0_49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0" lang="uk-UA" sz="2800" cap="none">
                <a:latin typeface="Calibri"/>
                <a:ea typeface="Calibri"/>
                <a:cs typeface="Calibri"/>
                <a:sym typeface="Calibri"/>
              </a:rPr>
              <a:t>Реалізація</a:t>
            </a:r>
            <a:r>
              <a:rPr b="0" lang="uk-UA" sz="2800">
                <a:latin typeface="Calibri"/>
                <a:ea typeface="Calibri"/>
                <a:cs typeface="Calibri"/>
                <a:sym typeface="Calibri"/>
              </a:rPr>
              <a:t>: інтерфейс користувача </a:t>
            </a:r>
            <a:endParaRPr/>
          </a:p>
        </p:txBody>
      </p:sp>
      <p:sp>
        <p:nvSpPr>
          <p:cNvPr id="154" name="Google Shape;154;g3ed2338a528_0_49"/>
          <p:cNvSpPr txBox="1"/>
          <p:nvPr/>
        </p:nvSpPr>
        <p:spPr>
          <a:xfrm>
            <a:off x="8280000" y="4788000"/>
            <a:ext cx="72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10</a:t>
            </a: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/13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55" name="Google Shape;155;g3ed2338a528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750" y="715550"/>
            <a:ext cx="4117258" cy="20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ed2338a528_0_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5331" y="715550"/>
            <a:ext cx="3739121" cy="20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ed2338a528_0_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975" y="2735046"/>
            <a:ext cx="3597284" cy="1900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ed2338a528_0_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78261" y="2735050"/>
            <a:ext cx="4861764" cy="190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0" lang="uk-UA" sz="2800" cap="none">
                <a:latin typeface="Calibri"/>
                <a:ea typeface="Calibri"/>
                <a:cs typeface="Calibri"/>
                <a:sym typeface="Calibri"/>
              </a:rPr>
              <a:t>Тестування системи</a:t>
            </a:r>
            <a:endParaRPr/>
          </a:p>
        </p:txBody>
      </p:sp>
      <p:sp>
        <p:nvSpPr>
          <p:cNvPr id="164" name="Google Shape;164;p7"/>
          <p:cNvSpPr txBox="1"/>
          <p:nvPr/>
        </p:nvSpPr>
        <p:spPr>
          <a:xfrm>
            <a:off x="8280000" y="4788000"/>
            <a:ext cx="72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11</a:t>
            </a: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/13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65" name="Google Shape;16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7000"/>
            <a:ext cx="2281949" cy="2444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9976" y="1124875"/>
            <a:ext cx="3117100" cy="262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5100" y="1124875"/>
            <a:ext cx="3306768" cy="262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0" lang="uk-UA" sz="2800" cap="none">
                <a:latin typeface="Calibri"/>
                <a:ea typeface="Calibri"/>
                <a:cs typeface="Calibri"/>
                <a:sym typeface="Calibri"/>
              </a:rPr>
              <a:t>Висновки</a:t>
            </a:r>
            <a:endParaRPr/>
          </a:p>
        </p:txBody>
      </p:sp>
      <p:sp>
        <p:nvSpPr>
          <p:cNvPr id="173" name="Google Shape;173;p9"/>
          <p:cNvSpPr txBox="1"/>
          <p:nvPr>
            <p:ph idx="2" type="body"/>
          </p:nvPr>
        </p:nvSpPr>
        <p:spPr>
          <a:xfrm>
            <a:off x="364800" y="1531350"/>
            <a:ext cx="7018200" cy="20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Досліджено існуючі підходи — обґрунтовано вибір PPO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Розроблено математичну модель у вигляді MDP (S=114, A=101)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Реалізовано власну функцію винагороди CustomReward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Навчено PPO агента — 2 052 кроки виживання (v3)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Проведено порівняльне тестування на 20 сценаріях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Розроблено веб-застосунок Streamlit з 4 вкладками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8280000" y="4752000"/>
            <a:ext cx="72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12</a:t>
            </a: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/13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2020-04-02T13:49:33Z</dcterms:created>
</cp:coreProperties>
</file>